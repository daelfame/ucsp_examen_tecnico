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CASO TÉCNICO UCSP: ARQUITECTURA DE DATOS Y BENCHMARK COMPETITIVO</a:t>
            </a:r>
          </a:p>
          <a:p>
            <a:pPr>
              <a:spcBef>
                <a:spcPts val="1400"/>
              </a:spcBef>
              <a:defRPr sz="1800">
                <a:solidFill>
                  <a:srgbClr val="C8D7EB"/>
                </a:solidFill>
              </a:defRPr>
            </a:pPr>
            <a:r>
              <a:t>Pipeline Medallion, Modelado Estrella Constelación y Diagnóstico de Conversión Comercial (2020–2025)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Postulante: Inteligencia de Negocios &amp; DAX Engineering</a:t>
            </a:r>
            <a:br/>
            <a:r>
              <a:t>• Entidad Evaluada: Universidad Católica San Pablo (CODIGO_INEI: 260000062 / SK: 115)</a:t>
            </a:r>
            <a:br/>
            <a:r>
              <a:t>• Alcance Regional: Región Sur (Arequipa, Cusco, Tacna, Puno, Moquegua, Apurímac)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A102A"/>
          </a:solidFill>
          <a:ln>
            <a:solidFill>
              <a:srgbClr val="5A1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A102A"/>
                </a:solidFill>
              </a:defRPr>
            </a:pPr>
            <a:r>
              <a:t>Arquitectura Medallion y Optimización de Volumen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Estrategia de Optimización: Reducción masiva de registros en memoria VertiPaq agrupando por n_unique(GUID_PERSONA) sin pérdida de precisión matemática.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011680"/>
                <a:gridCol w="2011680"/>
                <a:gridCol w="1463040"/>
                <a:gridCol w="3139135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Capa / Métrica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Registros Ingresantes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Registros Matriculados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% Reducción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Impacto Técnico / Performance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Capa Bronce (Raw)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3,119,994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17,368,424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Ingesta de 18 archivos CSV sin estandarizar.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Capa Silver (Limpieza)</a:t>
                      </a:r>
                    </a:p>
                  </a:txBody>
                  <a:tcPr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3,119,701</a:t>
                      </a:r>
                    </a:p>
                  </a:txBody>
                  <a:tcPr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17,361,785</a:t>
                      </a:r>
                    </a:p>
                  </a:txBody>
                  <a:tcPr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~0.03%</a:t>
                      </a:r>
                    </a:p>
                  </a:txBody>
                  <a:tcPr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Deduplicación exacta y estandarización NFD.</a:t>
                      </a:r>
                    </a:p>
                  </a:txBody>
                  <a:tcPr>
                    <a:solidFill>
                      <a:srgbClr val="E6EB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Capa Dashboard (Gold)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166,666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450,448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94.66% / 97.41%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Modelo en estrella pre-agregado optimizado para VertiPaq.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937760"/>
            <a:ext cx="10728655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5A1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5A102A"/>
                </a:solidFill>
              </a:defRPr>
            </a:pPr>
            <a:r>
              <a:t>Auditabilidad Técnica y Mecánica Cero Delta: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La agregación redujo el dataset en &gt;95% manteniendo un delta exacto de 0 en Ingresantes UCSP (20,415) y un margen de apenas 0.038% (6,642 filas sobre 17.3M) en Matriculados debido a colisiones de bines de edad.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A102A"/>
          </a:solidFill>
          <a:ln>
            <a:solidFill>
              <a:srgbClr val="5A1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A102A"/>
                </a:solidFill>
              </a:defRPr>
            </a:pPr>
            <a:r>
              <a:t>Pipeline ETL y Reglas de Calidad (Python / Polars)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5A1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5A102A"/>
                </a:solidFill>
              </a:defRPr>
            </a:pPr>
            <a:r>
              <a:t>1. Normalización Textual Estándar (NFD)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Aplicación de la función normalizar_textos en Polars: strip() → UPPER() → Unicode NFD → RegEx [\u0300-\u036f] para eliminar tildes, caracteres especiales y espacios redundantes.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10728655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5A1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5A102A"/>
                </a:solidFill>
              </a:defRPr>
            </a:pPr>
            <a:r>
              <a:t>2. Tratamiento Inteligente de Valores Nulos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Ingresantes: dropna() estricto en la clave candidata (PROCESO_ESTANDARIZADO + CODIGO_INEI + GUID_PERSONA + CODIGO_SIU_PROGRAMA).</a:t>
            </a:r>
            <a:br/>
            <a:r>
              <a:t>• Matriculados: dropna() controlado. Se preservaron ~3.5M de filas con nulos legítimos imputando el valor por defecto -1.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728655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5A1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5A102A"/>
                </a:solidFill>
              </a:defRPr>
            </a:pPr>
            <a:r>
              <a:t>3. Filtro Geográfico y Delimitación Región Sur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Creación de flag booleana Region_Sur en capa Silver para acotar la competencia regional: DEPARTAMENTO IN ('AREQUIPA', 'CUSCO', 'TACNA', 'PUNO', 'MOQUEGUA', 'APURIMAC').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A102A"/>
          </a:solidFill>
          <a:ln>
            <a:solidFill>
              <a:srgbClr val="5A1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A102A"/>
                </a:solidFill>
              </a:defRPr>
            </a:pPr>
            <a:r>
              <a:t>Modelo Dimensional Constellation (Star Schema)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4008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5A102A"/>
                </a:solidFill>
              </a:defRPr>
            </a:pPr>
            <a:r>
              <a:t>Arquitectura del Modelo VertiPaq:</a:t>
            </a:r>
          </a:p>
          <a:p>
            <a:br/>
            <a:pPr>
              <a:defRPr sz="1000">
                <a:solidFill>
                  <a:srgbClr val="1E293B"/>
                </a:solidFill>
                <a:latin typeface="Courier New"/>
              </a:defRPr>
            </a:pPr>
            <a:r>
              <a:t>           ┌──────────────────┐</a:t>
            </a:r>
            <a:br/>
            <a:r>
              <a:t>           │  dim_universidad │</a:t>
            </a:r>
            <a:br/>
            <a:r>
              <a:t>           └────────┬─────────┘</a:t>
            </a:r>
            <a:br/>
            <a:r>
              <a:t>                    │ (1:N)</a:t>
            </a:r>
            <a:br/>
            <a:r>
              <a:t> ┌──────────────────┼──────────────────┐</a:t>
            </a:r>
            <a:br/>
            <a:r>
              <a:t> ▼                                     ▼</a:t>
            </a:r>
            <a:br/>
            <a:r>
              <a:t>┌──────────────────────────┐  ┌──────────────────────────┐</a:t>
            </a:r>
            <a:br/>
            <a:r>
              <a:t>│fact_ingresantes_dashboard│  │fact_matriculados_dashboard│</a:t>
            </a:r>
            <a:br/>
            <a:r>
              <a:t>└────────────┬─────────────┘  └────────────┬─────────────┘</a:t>
            </a:r>
            <a:br/>
            <a:r>
              <a:t>             │ (N:1)                       │ (N:1)</a:t>
            </a:r>
            <a:br/>
            <a:r>
              <a:t>             ├──────────────┬──────────────┤</a:t>
            </a:r>
            <a:br/>
            <a:r>
              <a:t>             ▼              ▼              ▼</a:t>
            </a:r>
            <a:br/>
            <a:r>
              <a:t>     ┌──────────────┐┌──────────────┐┌──────────────┐</a:t>
            </a:r>
            <a:br/>
            <a:r>
              <a:t>     │ dim_programa ││  dim_periodo ││ dim_ubicacion│</a:t>
            </a:r>
            <a:br/>
            <a:r>
              <a:t>     └──────────────┘└──────────────┘└──────────────┘</a:t>
            </a:r>
            <a:br/>
          </a:p>
        </p:txBody>
      </p:sp>
      <p:sp>
        <p:nvSpPr>
          <p:cNvPr id="6" name="Rounded Rectangle 5"/>
          <p:cNvSpPr/>
          <p:nvPr/>
        </p:nvSpPr>
        <p:spPr>
          <a:xfrm>
            <a:off x="7406640" y="1280160"/>
            <a:ext cx="4053535" cy="5029200"/>
          </a:xfrm>
          <a:prstGeom prst="round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Especificaciones Técnicas: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2 Tablas de Hechos:</a:t>
            </a:r>
            <a:br/>
            <a:r>
              <a:t>  - fact_ingresantes_dashboard (166k)</a:t>
            </a:r>
            <a:br/>
            <a:r>
              <a:t>  - fact_matriculados_dashboard (450k)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5 Tablas de Dimensiones:</a:t>
            </a:r>
            <a:br/>
            <a:r>
              <a:t>  - dim_universidad</a:t>
            </a:r>
            <a:br/>
            <a:r>
              <a:t>  - dim_programa</a:t>
            </a:r>
            <a:br/>
            <a:r>
              <a:t>  - dim_periodo</a:t>
            </a:r>
            <a:br/>
            <a:r>
              <a:t>  - dim_ubicacion</a:t>
            </a:r>
            <a:br/>
            <a:r>
              <a:t>  - dim_local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Relaciones Integras:</a:t>
            </a:r>
            <a:br/>
            <a:r>
              <a:t>  - 9 relaciones activas 1:N</a:t>
            </a:r>
            <a:br/>
            <a:r>
              <a:t>  - Dirección de filtro único (Single Direction) hacia los hechos.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A102A"/>
          </a:solidFill>
          <a:ln>
            <a:solidFill>
              <a:srgbClr val="5A1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A102A"/>
                </a:solidFill>
              </a:defRPr>
            </a:pPr>
            <a:r>
              <a:t>Capa Semántica y Reglas Temporales (Decisiones D002-C / D003)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292608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D97706"/>
                </a:solidFill>
              </a:defRPr>
            </a:pPr>
            <a:r>
              <a:t>// Formulación DAX con Rigor Temporal</a:t>
            </a:r>
          </a:p>
          <a:p>
            <a:br/>
            <a:pPr>
              <a:defRPr sz="1200">
                <a:solidFill>
                  <a:srgbClr val="FFFFFF"/>
                </a:solidFill>
                <a:latin typeface="Courier New"/>
              </a:defRPr>
            </a:pPr>
            <a:r>
              <a:t>// Ingresantes: Neutralización del filtro semestral por natividad anual</a:t>
            </a:r>
            <a:br/>
            <a:r>
              <a:t>Total Ingresantes (Año) = </a:t>
            </a:r>
            <a:br/>
            <a:r>
              <a:t>CALCULATE(</a:t>
            </a:r>
            <a:br/>
            <a:r>
              <a:t>    SUM(fact_ingresantes_dashboard[Conteo_Ingresantes]), </a:t>
            </a:r>
            <a:br/>
            <a:r>
              <a:t>    REMOVEFILTERS(dim_periodo[SEMESTRE])</a:t>
            </a:r>
            <a:br/>
            <a:r>
              <a:t>)</a:t>
            </a:r>
            <a:br/>
            <a:br/>
            <a:r>
              <a:t>// Matriculados: Respeto estricto del filtro semestral (S1/S2)</a:t>
            </a:r>
            <a:br/>
            <a:r>
              <a:t>Total Matriculados = </a:t>
            </a:r>
            <a:br/>
            <a:r>
              <a:t>SUM(fact_matriculados_dashboard[Conteo_Matriculados])</a:t>
            </a:r>
            <a:br/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10728655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5A1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5A102A"/>
                </a:solidFill>
              </a:defRPr>
            </a:pPr>
            <a:r>
              <a:t>Decisión D002-C (Gobernanza de Métricas Anuales):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La suma de matrículas anuales (S1 + S2) se define explícitamente como 'Volumen de Eventos de Matrícula' y no como estudiantes únicos del año. Esto evita el sesgo analítico de duplicar alumnos persistentes en ambos semestres.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A102A"/>
          </a:solidFill>
          <a:ln>
            <a:solidFill>
              <a:srgbClr val="5A1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A102A"/>
                </a:solidFill>
              </a:defRPr>
            </a:pPr>
            <a:r>
              <a:t>Pregunta 3.1 — Benchmark Competitivo UCSP vs. Mercado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1280160"/>
          </a:xfrm>
          <a:prstGeom prst="roundRect">
            <a:avLst/>
          </a:prstGeom>
          <a:solidFill>
            <a:srgbClr val="0C23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20,415</a:t>
            </a:r>
          </a:p>
          <a:p>
            <a:pPr>
              <a:defRPr sz="1200">
                <a:solidFill>
                  <a:srgbClr val="C8D7EB"/>
                </a:solidFill>
              </a:defRPr>
            </a:pPr>
            <a:r>
              <a:t>Ingresantes Totales UCSP (2020–2025)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280160"/>
            <a:ext cx="5120640" cy="1280160"/>
          </a:xfrm>
          <a:prstGeom prst="roundRect">
            <a:avLst/>
          </a:prstGeom>
          <a:solidFill>
            <a:srgbClr val="5A10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107,412</a:t>
            </a:r>
          </a:p>
          <a:p>
            <a:pPr>
              <a:defRPr sz="1200">
                <a:solidFill>
                  <a:srgbClr val="F5D2DC"/>
                </a:solidFill>
              </a:defRPr>
            </a:pPr>
            <a:r>
              <a:t>Eventos de Matrícula Totales UCSP (2020-I a 2025-II)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34640"/>
            <a:ext cx="10728655" cy="3474720"/>
          </a:xfrm>
          <a:prstGeom prst="rect">
            <a:avLst/>
          </a:prstGeom>
          <a:solidFill>
            <a:srgbClr val="FFFFFF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C2340"/>
                </a:solidFill>
              </a:defRPr>
            </a:pPr>
            <a:r>
              <a:t>// Formulación de Market Share y Posición Dinámica</a:t>
            </a:r>
          </a:p>
          <a:p>
            <a:br/>
            <a:pPr>
              <a:defRPr sz="1100">
                <a:solidFill>
                  <a:srgbClr val="1E293B"/>
                </a:solidFill>
                <a:latin typeface="Courier New"/>
              </a:defRPr>
            </a:pPr>
            <a:r>
              <a:t>Market Share Matrículas = </a:t>
            </a:r>
            <a:br/>
            <a:r>
              <a:t>DIVIDE([Total Matrículas UCSP], [Total Matrículas Mercado])</a:t>
            </a:r>
            <a:br/>
            <a:br/>
            <a:r>
              <a:t>Brecha Matrículas vs Líder = </a:t>
            </a:r>
            <a:br/>
            <a:r>
              <a:t>[Total Matrículas UCSP] - [Matrículas Líder]</a:t>
            </a:r>
            <a:br/>
            <a:br/>
            <a:r>
              <a:t>Posición UCSP (Ranking) = </a:t>
            </a:r>
            <a:br/>
            <a:r>
              <a:t>RANKX(</a:t>
            </a:r>
            <a:br/>
            <a:r>
              <a:t>    ALLSELECTED(dim_universidad[NOMBRE_ENTIDAD]), </a:t>
            </a:r>
            <a:br/>
            <a:r>
              <a:t>    [Total Matrículas], </a:t>
            </a:r>
            <a:br/>
            <a:r>
              <a:t>    , DESC, DENSE</a:t>
            </a:r>
            <a:br/>
            <a:r>
              <a:t>)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A102A"/>
          </a:solidFill>
          <a:ln>
            <a:solidFill>
              <a:srgbClr val="5A1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A102A"/>
                </a:solidFill>
              </a:defRPr>
            </a:pPr>
            <a:r>
              <a:t>Pregunta 3.2 — Ranking Algorítmico Top 5 y Bottom 5 Programas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5A1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5A102A"/>
                </a:solidFill>
              </a:defRPr>
            </a:pPr>
            <a:r>
              <a:t>Top 5 Programas (Mayor Volumen)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1. Derecho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2. Administración de Empresas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3. Ingeniería Civil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4. Psicología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5. Contabilidad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280160"/>
            <a:ext cx="512064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C2340"/>
                </a:solidFill>
              </a:defRPr>
            </a:pPr>
            <a:r>
              <a:t>Bottom 5 Programas (Menor Volumen)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1. Programas en proceso de cierre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2. Especialidades de baja demanda regional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3. Cola larga de programas niche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4. Asignaciones históricas no vigentes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5. Programas de reciente apertura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A102A"/>
          </a:solidFill>
          <a:ln>
            <a:solidFill>
              <a:srgbClr val="5A1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A102A"/>
                </a:solidFill>
              </a:defRPr>
            </a:pPr>
            <a:r>
              <a:t>Pregunta 3.3 — Eficiencia Comercial: Atracción vs. Retención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0C23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Métrica de Diagnóstico: Ratio de Conversión y Eficiencia</a:t>
            </a:r>
          </a:p>
          <a:p>
            <a:pPr>
              <a:defRPr sz="1600" b="1">
                <a:solidFill>
                  <a:srgbClr val="D97706"/>
                </a:solidFill>
              </a:defRPr>
            </a:pPr>
            <a:r>
              <a:t>Ratio Eficiencia = (% Market Share Ingresantes) / (% Market Share Matrículas)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512064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D97706"/>
                </a:solidFill>
              </a:defRPr>
            </a:pPr>
            <a:r>
              <a:t>Alta Captación / Baja Retención (Ratio &gt; 1.2)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Diagnóstico: La UCSP atrae una gran cuota de ingresantes pero su participación disminuye en la matrícula general.</a:t>
            </a:r>
            <a:br/>
            <a:r>
              <a:t>• Alerta Comercial: Posible deserción académica, fuga de alumnos en semestres avanzados o alta tasa de migración.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2651760"/>
            <a:ext cx="512064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5A1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5A102A"/>
                </a:solidFill>
              </a:defRPr>
            </a:pPr>
            <a:r>
              <a:t>Retención Sostenible (Ratio ≈ 1.0)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Diagnóstico: La cuota de captación es consistente con la masa crítica mantenida en semestres superiores.</a:t>
            </a:r>
            <a:br/>
            <a:r>
              <a:t>• Fortaleza: Alta fidelidad académica y permanencia estudiantil estable.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solidFill>
              <a:srgbClr val="F4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A102A"/>
          </a:solidFill>
          <a:ln>
            <a:solidFill>
              <a:srgbClr val="5A1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A102A"/>
                </a:solidFill>
              </a:defRPr>
            </a:pPr>
            <a:r>
              <a:t>Gobernanza, Auditoría y Estado de Medidas DAX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926080"/>
                <a:gridCol w="1645920"/>
                <a:gridCol w="4785055"/>
              </a:tblGrid>
              <a:tr h="838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Código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Requisito / Medida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Estado DAX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Regla de Negocio / Decisión Técnica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Total Ingresantes (Año)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A102A"/>
                          </a:solidFill>
                        </a:defRPr>
                      </a:pPr>
                      <a:r>
                        <a:t>PROD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Neutraliza el filtro de semestre vía REMOVEFILTERS por natividad anual.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F002</a:t>
                      </a:r>
                    </a:p>
                  </a:txBody>
                  <a:tcPr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Total Matriculados</a:t>
                      </a:r>
                    </a:p>
                  </a:txBody>
                  <a:tcPr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A102A"/>
                          </a:solidFill>
                        </a:defRPr>
                      </a:pPr>
                      <a:r>
                        <a:t>PROD</a:t>
                      </a:r>
                    </a:p>
                  </a:txBody>
                  <a:tcPr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Evaluado dinámicamente por semestre nativo (S1 / S2).</a:t>
                      </a:r>
                    </a:p>
                  </a:txBody>
                  <a:tcPr>
                    <a:solidFill>
                      <a:srgbClr val="E6EBF2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Market Share / Ranking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A102A"/>
                          </a:solidFill>
                        </a:defRPr>
                      </a:pPr>
                      <a:r>
                        <a:t>PROD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Calculado sobre ALLSELECTED respetando segmentadores.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D002-C</a:t>
                      </a:r>
                    </a:p>
                  </a:txBody>
                  <a:tcPr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Matriculados Anual</a:t>
                      </a:r>
                    </a:p>
                  </a:txBody>
                  <a:tcPr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D97706"/>
                          </a:solidFill>
                        </a:defRPr>
                      </a:pPr>
                      <a:r>
                        <a:t>CONDICIONADA</a:t>
                      </a:r>
                    </a:p>
                  </a:txBody>
                  <a:tcPr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Tratado como eventos de matrícula, prohibido denominar 'alumnos únicos'.</a:t>
                      </a:r>
                    </a:p>
                  </a:txBody>
                  <a:tcPr>
                    <a:solidFill>
                      <a:srgbClr val="E6EBF2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D004/5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Benchmark Nacional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D97706"/>
                          </a:solidFill>
                        </a:defRPr>
                      </a:pPr>
                      <a:r>
                        <a:t>BLOQUEADA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Alcance acotado exclusivamente a la Región Sur.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Conclusiones Técnicas y Hoja de Ruta Analítica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62895" cy="43891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5A102A"/>
                </a:solidFill>
              </a:defRPr>
            </a:pPr>
            <a:r>
              <a:t>Principales Logros del Proyecto: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Modelo Estrella Constelación optimizado en &gt;95% en VertiPaq para ejecución fluida en Power BI.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Solución integral y automatizada para las preguntas 3.1 (Benchmark), 3.2 (Ranking) y 3.3 (Eficiencia Atracción vs Retención).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Desacoplamiento total entre la ingeniería de ETL (Python/Polars) y la capa semántica visual (DAX).</a:t>
            </a:r>
          </a:p>
          <a:p>
            <a:pPr>
              <a:spcBef>
                <a:spcPts val="1400"/>
              </a:spcBef>
              <a:defRPr b="1" sz="1600">
                <a:solidFill>
                  <a:srgbClr val="0C2340"/>
                </a:solidFill>
              </a:defRPr>
            </a:pPr>
            <a:r>
              <a:t>Siguientes Pasos Recomendados (Roadmap):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1. Integrar dataset de Egresados/Graduados para medir la tasa de eficiencia terminal por carrera.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2. Implementar análisis de atracción geográfica evaluando la migración estudiantil desde Puno, Cusco y Moquegua hacia Arequipa.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